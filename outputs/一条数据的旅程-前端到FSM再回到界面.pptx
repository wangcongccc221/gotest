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全景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01 / 12</a:t>
            </a:r>
          </a:p>
        </p:txBody>
      </p:sp>
      <p:sp>
        <p:nvSpPr>
          <p:cNvPr id="7" name="title:cover"/>
          <p:cNvSpPr txBox="1"/>
          <p:nvPr/>
        </p:nvSpPr>
        <p:spPr>
          <a:xfrm>
            <a:off x="786384" y="1078992"/>
            <a:ext cx="10698480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4200" b="1">
                <a:solidFill>
                  <a:srgbClr val="17202A"/>
                </a:solidFill>
                <a:latin typeface="Microsoft YaHei"/>
              </a:rPr>
              <a:t>一条数据的旅程</a:t>
            </a:r>
          </a:p>
        </p:txBody>
      </p:sp>
      <p:sp>
        <p:nvSpPr>
          <p:cNvPr id="8" name="body:cover-subtitle"/>
          <p:cNvSpPr txBox="1"/>
          <p:nvPr/>
        </p:nvSpPr>
        <p:spPr>
          <a:xfrm>
            <a:off x="786384" y="1792224"/>
            <a:ext cx="1069848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2400" b="0">
                <a:solidFill>
                  <a:srgbClr val="5F6B76"/>
                </a:solidFill>
                <a:latin typeface="Microsoft YaHei"/>
              </a:rPr>
              <a:t>从前端请求到 FSM 返回，再到页面显示</a:t>
            </a:r>
          </a:p>
        </p:txBody>
      </p:sp>
      <p:sp>
        <p:nvSpPr>
          <p:cNvPr id="9" name="label:cover-meta"/>
          <p:cNvSpPr txBox="1"/>
          <p:nvPr/>
        </p:nvSpPr>
        <p:spPr>
          <a:xfrm>
            <a:off x="786384" y="2322576"/>
            <a:ext cx="106984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2563A6"/>
                </a:solidFill>
                <a:latin typeface="Microsoft YaHei"/>
              </a:rPr>
              <a:t>ArkTS 前端 × Go 后端 × FSM  |  30 分钟代码链路培训</a:t>
            </a:r>
          </a:p>
        </p:txBody>
      </p:sp>
      <p:sp>
        <p:nvSpPr>
          <p:cNvPr id="10" name="label:cover-step"/>
          <p:cNvSpPr/>
          <p:nvPr/>
        </p:nvSpPr>
        <p:spPr>
          <a:xfrm>
            <a:off x="658368" y="3310128"/>
            <a:ext cx="1188720" cy="658368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01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连接</a:t>
            </a:r>
          </a:p>
        </p:txBody>
      </p:sp>
      <p:sp>
        <p:nvSpPr>
          <p:cNvPr id="11" name="label:cover-arrow"/>
          <p:cNvSpPr/>
          <p:nvPr/>
        </p:nvSpPr>
        <p:spPr>
          <a:xfrm>
            <a:off x="1856232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2" name="label:cover-step"/>
          <p:cNvSpPr/>
          <p:nvPr/>
        </p:nvSpPr>
        <p:spPr>
          <a:xfrm>
            <a:off x="2029967" y="3310128"/>
            <a:ext cx="1188720" cy="658368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02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请求</a:t>
            </a:r>
          </a:p>
        </p:txBody>
      </p:sp>
      <p:sp>
        <p:nvSpPr>
          <p:cNvPr id="13" name="label:cover-arrow"/>
          <p:cNvSpPr/>
          <p:nvPr/>
        </p:nvSpPr>
        <p:spPr>
          <a:xfrm>
            <a:off x="3227832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4" name="label:cover-step"/>
          <p:cNvSpPr/>
          <p:nvPr/>
        </p:nvSpPr>
        <p:spPr>
          <a:xfrm>
            <a:off x="3401568" y="3310128"/>
            <a:ext cx="1188720" cy="658368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03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路由</a:t>
            </a:r>
          </a:p>
        </p:txBody>
      </p:sp>
      <p:sp>
        <p:nvSpPr>
          <p:cNvPr id="15" name="label:cover-arrow"/>
          <p:cNvSpPr/>
          <p:nvPr/>
        </p:nvSpPr>
        <p:spPr>
          <a:xfrm>
            <a:off x="4599431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6" name="label:cover-step"/>
          <p:cNvSpPr/>
          <p:nvPr/>
        </p:nvSpPr>
        <p:spPr>
          <a:xfrm>
            <a:off x="4773168" y="3310128"/>
            <a:ext cx="1188720" cy="658368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04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563A6"/>
                </a:solidFill>
                <a:latin typeface="Microsoft YaHei"/>
              </a:rPr>
              <a:t>指令</a:t>
            </a:r>
          </a:p>
        </p:txBody>
      </p:sp>
      <p:sp>
        <p:nvSpPr>
          <p:cNvPr id="17" name="label:cover-arrow"/>
          <p:cNvSpPr/>
          <p:nvPr/>
        </p:nvSpPr>
        <p:spPr>
          <a:xfrm>
            <a:off x="5971031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8" name="label:cover-step"/>
          <p:cNvSpPr/>
          <p:nvPr/>
        </p:nvSpPr>
        <p:spPr>
          <a:xfrm>
            <a:off x="6144768" y="3310128"/>
            <a:ext cx="1188720" cy="658368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05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返回</a:t>
            </a:r>
          </a:p>
        </p:txBody>
      </p:sp>
      <p:sp>
        <p:nvSpPr>
          <p:cNvPr id="19" name="label:cover-arrow"/>
          <p:cNvSpPr/>
          <p:nvPr/>
        </p:nvSpPr>
        <p:spPr>
          <a:xfrm>
            <a:off x="7342631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0" name="label:cover-step"/>
          <p:cNvSpPr/>
          <p:nvPr/>
        </p:nvSpPr>
        <p:spPr>
          <a:xfrm>
            <a:off x="7516367" y="3310128"/>
            <a:ext cx="1188720" cy="658368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06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解析</a:t>
            </a:r>
          </a:p>
        </p:txBody>
      </p:sp>
      <p:sp>
        <p:nvSpPr>
          <p:cNvPr id="21" name="label:cover-arrow"/>
          <p:cNvSpPr/>
          <p:nvPr/>
        </p:nvSpPr>
        <p:spPr>
          <a:xfrm>
            <a:off x="8714232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2" name="label:cover-step"/>
          <p:cNvSpPr/>
          <p:nvPr/>
        </p:nvSpPr>
        <p:spPr>
          <a:xfrm>
            <a:off x="8887967" y="3310128"/>
            <a:ext cx="1188720" cy="658368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07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转状态</a:t>
            </a:r>
          </a:p>
        </p:txBody>
      </p:sp>
      <p:sp>
        <p:nvSpPr>
          <p:cNvPr id="23" name="label:cover-arrow"/>
          <p:cNvSpPr/>
          <p:nvPr/>
        </p:nvSpPr>
        <p:spPr>
          <a:xfrm>
            <a:off x="10085832" y="3529584"/>
            <a:ext cx="164592" cy="201168"/>
          </a:xfrm>
          <a:prstGeom prst="rightArrow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4" name="label:cover-step"/>
          <p:cNvSpPr/>
          <p:nvPr/>
        </p:nvSpPr>
        <p:spPr>
          <a:xfrm>
            <a:off x="10259567" y="3310128"/>
            <a:ext cx="1188720" cy="658368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08</a:t>
            </a:r>
          </a:p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2D7D5A"/>
                </a:solidFill>
                <a:latin typeface="Microsoft YaHei"/>
              </a:rPr>
              <a:t>显示</a:t>
            </a:r>
          </a:p>
        </p:txBody>
      </p:sp>
      <p:sp>
        <p:nvSpPr>
          <p:cNvPr id="25" name="body:cover-message"/>
          <p:cNvSpPr/>
          <p:nvPr/>
        </p:nvSpPr>
        <p:spPr>
          <a:xfrm>
            <a:off x="2057400" y="4681728"/>
            <a:ext cx="8074152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先看懂完整链路，再看每一段对应代码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角色与边界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02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三个角色，一条链路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先明确谁做什么，后面的代码才不会串层</a:t>
            </a:r>
          </a:p>
        </p:txBody>
      </p:sp>
      <p:sp>
        <p:nvSpPr>
          <p:cNvPr id="9" name="decor:role"/>
          <p:cNvSpPr/>
          <p:nvPr/>
        </p:nvSpPr>
        <p:spPr>
          <a:xfrm>
            <a:off x="603504" y="1371600"/>
            <a:ext cx="3438144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decor:role-header"/>
          <p:cNvSpPr/>
          <p:nvPr/>
        </p:nvSpPr>
        <p:spPr>
          <a:xfrm>
            <a:off x="603504" y="1371600"/>
            <a:ext cx="3438144" cy="566928"/>
          </a:xfrm>
          <a:prstGeom prst="rect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body:role-title"/>
          <p:cNvSpPr txBox="1"/>
          <p:nvPr/>
        </p:nvSpPr>
        <p:spPr>
          <a:xfrm>
            <a:off x="768096" y="15087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ArkTS 前端</a:t>
            </a:r>
          </a:p>
        </p:txBody>
      </p:sp>
      <p:sp>
        <p:nvSpPr>
          <p:cNvPr id="12" name="label:role-protocol"/>
          <p:cNvSpPr/>
          <p:nvPr/>
        </p:nvSpPr>
        <p:spPr>
          <a:xfrm>
            <a:off x="786384" y="2148840"/>
            <a:ext cx="3072384" cy="493776"/>
          </a:xfrm>
          <a:prstGeom prst="rect">
            <a:avLst/>
          </a:prstGeom>
          <a:solidFill>
            <a:srgbClr val="EEF1F4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52606D"/>
                </a:solidFill>
                <a:latin typeface="Microsoft YaHei"/>
              </a:rPr>
              <a:t>WebSocket JSON</a:t>
            </a:r>
          </a:p>
        </p:txBody>
      </p:sp>
      <p:sp>
        <p:nvSpPr>
          <p:cNvPr id="13" name="body:role-bullets"/>
          <p:cNvSpPr txBox="1"/>
          <p:nvPr/>
        </p:nvSpPr>
        <p:spPr>
          <a:xfrm>
            <a:off x="804672" y="2852928"/>
            <a:ext cx="3017520" cy="2057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连接 127.0.0.1:18080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发送请求 JSON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接收广播数据帧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映射并写入页面状态</a:t>
            </a:r>
          </a:p>
        </p:txBody>
      </p:sp>
      <p:sp>
        <p:nvSpPr>
          <p:cNvPr id="14" name="decor:role"/>
          <p:cNvSpPr/>
          <p:nvPr/>
        </p:nvSpPr>
        <p:spPr>
          <a:xfrm>
            <a:off x="4242816" y="1371600"/>
            <a:ext cx="3438144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decor:role-header"/>
          <p:cNvSpPr/>
          <p:nvPr/>
        </p:nvSpPr>
        <p:spPr>
          <a:xfrm>
            <a:off x="4242816" y="1371600"/>
            <a:ext cx="3438144" cy="566928"/>
          </a:xfrm>
          <a:prstGeom prst="rect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ody:role-title"/>
          <p:cNvSpPr txBox="1"/>
          <p:nvPr/>
        </p:nvSpPr>
        <p:spPr>
          <a:xfrm>
            <a:off x="4407407" y="15087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Go 后端</a:t>
            </a:r>
          </a:p>
        </p:txBody>
      </p:sp>
      <p:sp>
        <p:nvSpPr>
          <p:cNvPr id="17" name="label:role-protocol"/>
          <p:cNvSpPr/>
          <p:nvPr/>
        </p:nvSpPr>
        <p:spPr>
          <a:xfrm>
            <a:off x="4425696" y="2148840"/>
            <a:ext cx="3072384" cy="493776"/>
          </a:xfrm>
          <a:prstGeom prst="rect">
            <a:avLst/>
          </a:prstGeom>
          <a:solidFill>
            <a:srgbClr val="EEF1F4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52606D"/>
                </a:solidFill>
                <a:latin typeface="Microsoft YaHei"/>
              </a:rPr>
              <a:t>协议翻译 + 数据整形</a:t>
            </a:r>
          </a:p>
        </p:txBody>
      </p:sp>
      <p:sp>
        <p:nvSpPr>
          <p:cNvPr id="18" name="body:role-bullets"/>
          <p:cNvSpPr txBox="1"/>
          <p:nvPr/>
        </p:nvSpPr>
        <p:spPr>
          <a:xfrm>
            <a:off x="4443983" y="2852928"/>
            <a:ext cx="3017520" cy="2057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路由前端请求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向 FSM 发送 SYNC 指令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监听 1128 并解析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缓存、聚合、广播</a:t>
            </a:r>
          </a:p>
        </p:txBody>
      </p:sp>
      <p:sp>
        <p:nvSpPr>
          <p:cNvPr id="19" name="decor:role"/>
          <p:cNvSpPr/>
          <p:nvPr/>
        </p:nvSpPr>
        <p:spPr>
          <a:xfrm>
            <a:off x="7882127" y="1371600"/>
            <a:ext cx="3438144" cy="3913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ecor:role-header"/>
          <p:cNvSpPr/>
          <p:nvPr/>
        </p:nvSpPr>
        <p:spPr>
          <a:xfrm>
            <a:off x="7882127" y="1371600"/>
            <a:ext cx="3438144" cy="566928"/>
          </a:xfrm>
          <a:prstGeom prst="rect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body:role-title"/>
          <p:cNvSpPr txBox="1"/>
          <p:nvPr/>
        </p:nvSpPr>
        <p:spPr>
          <a:xfrm>
            <a:off x="8046719" y="150876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FSM</a:t>
            </a:r>
          </a:p>
        </p:txBody>
      </p:sp>
      <p:sp>
        <p:nvSpPr>
          <p:cNvPr id="22" name="label:role-protocol"/>
          <p:cNvSpPr/>
          <p:nvPr/>
        </p:nvSpPr>
        <p:spPr>
          <a:xfrm>
            <a:off x="8065007" y="2148840"/>
            <a:ext cx="3072384" cy="493776"/>
          </a:xfrm>
          <a:prstGeom prst="rect">
            <a:avLst/>
          </a:prstGeom>
          <a:solidFill>
            <a:srgbClr val="EEF1F4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52606D"/>
                </a:solidFill>
                <a:latin typeface="Microsoft YaHei"/>
              </a:rPr>
              <a:t>CTCP SYNC 二进制</a:t>
            </a:r>
          </a:p>
        </p:txBody>
      </p:sp>
      <p:sp>
        <p:nvSpPr>
          <p:cNvPr id="23" name="body:role-bullets"/>
          <p:cNvSpPr txBox="1"/>
          <p:nvPr/>
        </p:nvSpPr>
        <p:spPr>
          <a:xfrm>
            <a:off x="8083296" y="2852928"/>
            <a:ext cx="3017520" cy="2057400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1279 接收 DISPLAY_ON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主案例回连 HC:1128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返回配置 StGlobal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800" b="0">
                <a:solidFill>
                  <a:srgbClr val="17202A"/>
                </a:solidFill>
                <a:latin typeface="Microsoft YaHei"/>
              </a:rPr>
              <a:t>• 周期推送 Statistics</a:t>
            </a:r>
          </a:p>
        </p:txBody>
      </p:sp>
      <p:sp>
        <p:nvSpPr>
          <p:cNvPr id="24" name="label:role-summary"/>
          <p:cNvSpPr/>
          <p:nvPr/>
        </p:nvSpPr>
        <p:spPr>
          <a:xfrm>
            <a:off x="1993392" y="5504688"/>
            <a:ext cx="8211312" cy="47548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17202A"/>
                </a:solidFill>
                <a:latin typeface="Microsoft YaHei"/>
              </a:rPr>
              <a:t>术语：FSM = 设备侧控制程序  |  SYNC = CTCP 固定帧头  |  topic = 数据类别字段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完整链路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03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完整链路：连接、请求、指令、返回、显示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请求向右走，返回向左走；FSM 返回不是同步函数返回</a:t>
            </a:r>
          </a:p>
        </p:txBody>
      </p:sp>
      <p:sp>
        <p:nvSpPr>
          <p:cNvPr id="9" name="body:actor"/>
          <p:cNvSpPr/>
          <p:nvPr/>
        </p:nvSpPr>
        <p:spPr>
          <a:xfrm>
            <a:off x="658368" y="1280160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>
                <a:solidFill>
                  <a:srgbClr val="52606D"/>
                </a:solidFill>
                <a:latin typeface="Microsoft YaHei"/>
              </a:rPr>
              <a:t>ArkTS 前端</a:t>
            </a:r>
          </a:p>
        </p:txBody>
      </p:sp>
      <p:sp>
        <p:nvSpPr>
          <p:cNvPr id="10" name="body:actor"/>
          <p:cNvSpPr/>
          <p:nvPr/>
        </p:nvSpPr>
        <p:spPr>
          <a:xfrm>
            <a:off x="4590288" y="1280160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>
                <a:solidFill>
                  <a:srgbClr val="52606D"/>
                </a:solidFill>
                <a:latin typeface="Microsoft YaHei"/>
              </a:rPr>
              <a:t>Go 后端</a:t>
            </a:r>
          </a:p>
        </p:txBody>
      </p:sp>
      <p:sp>
        <p:nvSpPr>
          <p:cNvPr id="11" name="body:actor"/>
          <p:cNvSpPr/>
          <p:nvPr/>
        </p:nvSpPr>
        <p:spPr>
          <a:xfrm>
            <a:off x="8522208" y="1280160"/>
            <a:ext cx="2999232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800" b="1">
                <a:solidFill>
                  <a:srgbClr val="52606D"/>
                </a:solidFill>
                <a:latin typeface="Microsoft YaHei"/>
              </a:rPr>
              <a:t>FSM</a:t>
            </a:r>
          </a:p>
        </p:txBody>
      </p:sp>
      <p:sp>
        <p:nvSpPr>
          <p:cNvPr id="12" name="decor:step"/>
          <p:cNvSpPr/>
          <p:nvPr/>
        </p:nvSpPr>
        <p:spPr>
          <a:xfrm>
            <a:off x="658368" y="1993392"/>
            <a:ext cx="2999232" cy="1298448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label:step-number"/>
          <p:cNvSpPr/>
          <p:nvPr/>
        </p:nvSpPr>
        <p:spPr>
          <a:xfrm>
            <a:off x="768096" y="2121408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4" name="label:step-title"/>
          <p:cNvSpPr txBox="1"/>
          <p:nvPr/>
        </p:nvSpPr>
        <p:spPr>
          <a:xfrm>
            <a:off x="1261872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WebSocket open</a:t>
            </a:r>
          </a:p>
        </p:txBody>
      </p:sp>
      <p:sp>
        <p:nvSpPr>
          <p:cNvPr id="15" name="label:step-detail"/>
          <p:cNvSpPr txBox="1"/>
          <p:nvPr/>
        </p:nvSpPr>
        <p:spPr>
          <a:xfrm>
            <a:off x="804672" y="2514600"/>
            <a:ext cx="2706624" cy="685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4× requestStGlobal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+ requestHomeStats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+ requestStatistics</a:t>
            </a:r>
          </a:p>
        </p:txBody>
      </p:sp>
      <p:sp>
        <p:nvSpPr>
          <p:cNvPr id="16" name="label:arrow"/>
          <p:cNvSpPr/>
          <p:nvPr/>
        </p:nvSpPr>
        <p:spPr>
          <a:xfrm>
            <a:off x="3749039" y="2395728"/>
            <a:ext cx="749808" cy="438912"/>
          </a:xfrm>
          <a:prstGeom prst="rightArrow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JSON</a:t>
            </a:r>
          </a:p>
        </p:txBody>
      </p:sp>
      <p:sp>
        <p:nvSpPr>
          <p:cNvPr id="17" name="decor:step"/>
          <p:cNvSpPr/>
          <p:nvPr/>
        </p:nvSpPr>
        <p:spPr>
          <a:xfrm>
            <a:off x="4590288" y="1993392"/>
            <a:ext cx="2999232" cy="1298448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label:step-number"/>
          <p:cNvSpPr/>
          <p:nvPr/>
        </p:nvSpPr>
        <p:spPr>
          <a:xfrm>
            <a:off x="4700016" y="2121408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9" name="label:step-title"/>
          <p:cNvSpPr txBox="1"/>
          <p:nvPr/>
        </p:nvSpPr>
        <p:spPr>
          <a:xfrm>
            <a:off x="5193792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handleIncoming</a:t>
            </a:r>
          </a:p>
        </p:txBody>
      </p:sp>
      <p:sp>
        <p:nvSpPr>
          <p:cNvPr id="20" name="label:step-detail"/>
          <p:cNvSpPr txBox="1"/>
          <p:nvPr/>
        </p:nvSpPr>
        <p:spPr>
          <a:xfrm>
            <a:off x="4736592" y="2514600"/>
            <a:ext cx="2706624" cy="685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仅 requestStGlobal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触发 DISPLAY_ON</a:t>
            </a:r>
          </a:p>
        </p:txBody>
      </p:sp>
      <p:sp>
        <p:nvSpPr>
          <p:cNvPr id="21" name="label:arrow"/>
          <p:cNvSpPr/>
          <p:nvPr/>
        </p:nvSpPr>
        <p:spPr>
          <a:xfrm>
            <a:off x="7680960" y="2395728"/>
            <a:ext cx="749808" cy="438912"/>
          </a:xfrm>
          <a:prstGeom prst="rightArrow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1279</a:t>
            </a:r>
          </a:p>
        </p:txBody>
      </p:sp>
      <p:sp>
        <p:nvSpPr>
          <p:cNvPr id="22" name="decor:step"/>
          <p:cNvSpPr/>
          <p:nvPr/>
        </p:nvSpPr>
        <p:spPr>
          <a:xfrm>
            <a:off x="8522208" y="1993392"/>
            <a:ext cx="2999232" cy="1298448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label:step-number"/>
          <p:cNvSpPr/>
          <p:nvPr/>
        </p:nvSpPr>
        <p:spPr>
          <a:xfrm>
            <a:off x="8631936" y="2121408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4" name="label:step-title"/>
          <p:cNvSpPr txBox="1"/>
          <p:nvPr/>
        </p:nvSpPr>
        <p:spPr>
          <a:xfrm>
            <a:off x="9125712" y="21031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接收 DISPLAY_ON</a:t>
            </a:r>
          </a:p>
        </p:txBody>
      </p:sp>
      <p:sp>
        <p:nvSpPr>
          <p:cNvPr id="25" name="label:step-detail"/>
          <p:cNvSpPr txBox="1"/>
          <p:nvPr/>
        </p:nvSpPr>
        <p:spPr>
          <a:xfrm>
            <a:off x="8668512" y="2514600"/>
            <a:ext cx="2706624" cy="6857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16 字节 SYNC 帧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cmd = 0x0019</a:t>
            </a:r>
          </a:p>
        </p:txBody>
      </p:sp>
      <p:sp>
        <p:nvSpPr>
          <p:cNvPr id="26" name="decor:step"/>
          <p:cNvSpPr/>
          <p:nvPr/>
        </p:nvSpPr>
        <p:spPr>
          <a:xfrm>
            <a:off x="8522208" y="3822191"/>
            <a:ext cx="2999232" cy="1353312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label:step-number"/>
          <p:cNvSpPr/>
          <p:nvPr/>
        </p:nvSpPr>
        <p:spPr>
          <a:xfrm>
            <a:off x="8631936" y="3950207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8" name="label:step-title"/>
          <p:cNvSpPr txBox="1"/>
          <p:nvPr/>
        </p:nvSpPr>
        <p:spPr>
          <a:xfrm>
            <a:off x="9125712" y="39319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另起连接返回</a:t>
            </a:r>
          </a:p>
        </p:txBody>
      </p:sp>
      <p:sp>
        <p:nvSpPr>
          <p:cNvPr id="29" name="label:step-detail"/>
          <p:cNvSpPr txBox="1"/>
          <p:nvPr/>
        </p:nvSpPr>
        <p:spPr>
          <a:xfrm>
            <a:off x="8668512" y="4343400"/>
            <a:ext cx="2706624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FSM -&gt; HC:1128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Config / Statistics</a:t>
            </a:r>
          </a:p>
        </p:txBody>
      </p:sp>
      <p:sp>
        <p:nvSpPr>
          <p:cNvPr id="30" name="label:arrow"/>
          <p:cNvSpPr/>
          <p:nvPr/>
        </p:nvSpPr>
        <p:spPr>
          <a:xfrm>
            <a:off x="7680960" y="4251960"/>
            <a:ext cx="749808" cy="438912"/>
          </a:xfrm>
          <a:prstGeom prst="lef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SYNC</a:t>
            </a:r>
          </a:p>
        </p:txBody>
      </p:sp>
      <p:sp>
        <p:nvSpPr>
          <p:cNvPr id="31" name="decor:step"/>
          <p:cNvSpPr/>
          <p:nvPr/>
        </p:nvSpPr>
        <p:spPr>
          <a:xfrm>
            <a:off x="4590288" y="3822191"/>
            <a:ext cx="2999232" cy="1353312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abel:step-number"/>
          <p:cNvSpPr/>
          <p:nvPr/>
        </p:nvSpPr>
        <p:spPr>
          <a:xfrm>
            <a:off x="4700016" y="3950207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3" name="label:step-title"/>
          <p:cNvSpPr txBox="1"/>
          <p:nvPr/>
        </p:nvSpPr>
        <p:spPr>
          <a:xfrm>
            <a:off x="5193792" y="39319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读取、解析、缓存</a:t>
            </a:r>
          </a:p>
        </p:txBody>
      </p:sp>
      <p:sp>
        <p:nvSpPr>
          <p:cNvPr id="34" name="label:step-detail"/>
          <p:cNvSpPr txBox="1"/>
          <p:nvPr/>
        </p:nvSpPr>
        <p:spPr>
          <a:xfrm>
            <a:off x="4736592" y="4343400"/>
            <a:ext cx="2706624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配置即时广播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统计每 1 秒取快照</a:t>
            </a:r>
          </a:p>
        </p:txBody>
      </p:sp>
      <p:sp>
        <p:nvSpPr>
          <p:cNvPr id="35" name="label:arrow"/>
          <p:cNvSpPr/>
          <p:nvPr/>
        </p:nvSpPr>
        <p:spPr>
          <a:xfrm>
            <a:off x="3749039" y="4251960"/>
            <a:ext cx="749808" cy="438912"/>
          </a:xfrm>
          <a:prstGeom prst="lef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JSON</a:t>
            </a:r>
          </a:p>
        </p:txBody>
      </p:sp>
      <p:sp>
        <p:nvSpPr>
          <p:cNvPr id="36" name="decor:step"/>
          <p:cNvSpPr/>
          <p:nvPr/>
        </p:nvSpPr>
        <p:spPr>
          <a:xfrm>
            <a:off x="658368" y="3822191"/>
            <a:ext cx="2999232" cy="1353312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label:step-number"/>
          <p:cNvSpPr/>
          <p:nvPr/>
        </p:nvSpPr>
        <p:spPr>
          <a:xfrm>
            <a:off x="768096" y="3950207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8" name="label:step-title"/>
          <p:cNvSpPr txBox="1"/>
          <p:nvPr/>
        </p:nvSpPr>
        <p:spPr>
          <a:xfrm>
            <a:off x="1261872" y="393192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分流并显示</a:t>
            </a:r>
          </a:p>
        </p:txBody>
      </p:sp>
      <p:sp>
        <p:nvSpPr>
          <p:cNvPr id="39" name="label:step-detail"/>
          <p:cNvSpPr txBox="1"/>
          <p:nvPr/>
        </p:nvSpPr>
        <p:spPr>
          <a:xfrm>
            <a:off x="804672" y="4343400"/>
            <a:ext cx="2706624" cy="7406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数据类别字段 -&gt; 对应状态分支</a:t>
            </a:r>
          </a:p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配置管理器 / KPI 状态 -&gt; UI</a:t>
            </a:r>
          </a:p>
        </p:txBody>
      </p:sp>
      <p:sp>
        <p:nvSpPr>
          <p:cNvPr id="40" name="label:async-return"/>
          <p:cNvSpPr/>
          <p:nvPr/>
        </p:nvSpPr>
        <p:spPr>
          <a:xfrm>
            <a:off x="3154680" y="5413248"/>
            <a:ext cx="5888736" cy="475488"/>
          </a:xfrm>
          <a:prstGeom prst="rect">
            <a:avLst/>
          </a:prstGeom>
          <a:solidFill>
            <a:srgbClr val="F9EFE5"/>
          </a:solidFill>
          <a:ln w="12700">
            <a:solidFill>
              <a:srgbClr val="B46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500" b="1">
                <a:solidFill>
                  <a:srgbClr val="B46620"/>
                </a:solidFill>
                <a:latin typeface="Microsoft YaHei"/>
              </a:rPr>
              <a:t>关键：FSM 是反向新建连接，不是原 1279 连接上的同步 return</a:t>
            </a:r>
          </a:p>
        </p:txBody>
      </p:sp>
      <p:sp>
        <p:nvSpPr>
          <p:cNvPr id="41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讲解重点：先让大家记住方向和边界，后面每页只放大一个节点。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前端连接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04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连接成功，只代表通道已经建立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open 回调会立刻发起首轮请求，但此时还没有任何 FSM 业务数据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E:/new/my_harmony/entry/src/main/ets/utils/network/HarmonyWebSocketClient.ets | openCallback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0689     this.state = 'open';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0692     for (let subsysIndex = 0; subsysIndex &lt; ConstPreDef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0693       void this.requestStGlobal(ConstPreDefine.getFsmId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0694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0695     void this.requestHomeStats();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0696     void this.requestStatistics();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0697   };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这里发生了什么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state = open；不等待 ready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循环请求 4 个 FSM 的 StGlobal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再请求 homeStats / statistics 快照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失败、重连、业务回包都是后续状态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2563A6"/>
                </a:solidFill>
                <a:latin typeface="Microsoft YaHei"/>
              </a:rPr>
              <a:t>open != ready != 业务数据已返回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WebSocket open 回调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设置状态并发送 6 个 JSON 请求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请求已发出，尚未拿到 FSM 数据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讲解重点：把“通道可用”和“业务数据到达”分开，排查时先看是哪一步没发生。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前端请求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05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前端发的是 JSON，不是 SYNC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前端只描述“想做什么”，Go 再负责把请求翻译成设备协议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E:/new/my_harmony/entry/src/main/ets/utils/network/HarmonyWebSocketClient.ets | requestStGlobal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0793   async requestStGlobal(fsmId?: number): Promise&lt;boolea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0794     // WebSocket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0795     const payload = new RequestStGlobalMessage();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0796     if (fsmId !== undefined &amp;&amp; Number(fsmId) &gt; 0)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0797       payload.fsmId = Number(fsmId);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0798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0799     const success = await this.sendText(JSON.stringify(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0800     if (!success)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0801 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0802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0803     return success;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0804   }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三类请求不是一回事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requestStGlobal 带 fsmId，拉设备配置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requestHomeStats 尝试推聚合缓存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requestStatistics 尝试推统计缓存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只有 requestStGlobal 下发 DISPLAY_ON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2563A6"/>
                </a:solidFill>
                <a:latin typeface="Microsoft YaHei"/>
              </a:rPr>
              <a:t>JSON：type=requestStGlobal, fsmId=256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type + 可选 fsmId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JSON.stringify 后走 WebSocket 文本帧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Go 收到控制消息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讲解重点：前端不知道 1279、SYNC 或 0x0019，这些都属于 Go 与 FSM 的边界。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后端路由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06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Go 按 type 路由请求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handleIncoming 读取 type；requestStGlobal 进入 handler 后先回缓存、再异步访问 FSM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E:/goTest/go/ohos/Tcp/internal/runtime/websocket.go + websocket_handlers.go | handler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0411     case "requestStGlobal":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0412         c.handleRequestStGlobal(control)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0012     fsmID := normalizeRequestStGlobalFSMID(control.FSMID)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0014     c.sendLatestExitInfosData()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0015     c.sendLatestExitDisplayData()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0016     c.sendLatestExitAdditionalTextData()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0017     c.sendLatestLevelAuxConfigData()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0018     c.sendLatestFruitTypeConfigData()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0021     go func()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0022         if result := requestStGlobalFromFSM(fsmID); res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0023             setCTCPServerLastMessage("WebSocket request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0024    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0025     }()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5260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路由后的差异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每条 request 只进入一次 handler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5 个 sendLatest... 是本地缓存回放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go func 只启动 1 个异步任务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设备指令在 requestStGlobalFromFSM 内发送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EEF1F4"/>
          </a:solidFill>
          <a:ln w="12700">
            <a:solidFill>
              <a:srgbClr val="5260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52606D"/>
                </a:solidFill>
                <a:latin typeface="Microsoft YaHei"/>
              </a:rPr>
              <a:t>一次 handler = 先回缓存，再发 1 次 DISPLAY_ON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webSocketControlMessage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按 type 路由；缓存回放；goroutine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5 类缓存帧 + 1 次异步 FSM 请求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讲解重点：这里是协议边界入口：同样是前端请求，只有一条分支继续走设备网络。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563A6"/>
                </a:solidFill>
                <a:latin typeface="Microsoft YaHei"/>
              </a:rPr>
              <a:t>发送指令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07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Go 把 JSON 翻译成 DISPLAY_ON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Go 连接 FSM 的 1279 端口，发送 16 字节小端 SYNC 头；payload = 命令后的业务数据体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E:/goTest/go/ohos/Tcp/client/ctcp_client.go | RequestStGlobalFromFSM / SendCMD.Bytes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0465 func RequestStGlobalFromFSM(destID int32) int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0466     if destID == 0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0467         destID = cTCPDefaultFSMID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0468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0469     return StartCTCPClient("", 0, destID, cTCPHCDisplay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0337 func (cmd SendCMD) Bytes() []byte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0338     data := make([]byte, 16)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0339     binary.LittleEndian.PutUint32(data[0:4], cmd.SYNC)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0340     binary.LittleEndian.PutUint32(data[4:8], uint32(cmd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0341     binary.LittleEndian.PutUint32(data[8:12], uint32(cm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0342     binary.LittleEndian.PutUint32(data[12:16], uint32(c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0343     return data</a:t>
            </a:r>
          </a:p>
        </p:txBody>
      </p:sp>
      <p:sp>
        <p:nvSpPr>
          <p:cNvPr id="12" name="body:sync-heading"/>
          <p:cNvSpPr txBox="1"/>
          <p:nvPr/>
        </p:nvSpPr>
        <p:spPr>
          <a:xfrm>
            <a:off x="7589520" y="1389888"/>
            <a:ext cx="382219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16 字节头 = 4 个 uint32</a:t>
            </a:r>
          </a:p>
        </p:txBody>
      </p:sp>
      <p:sp>
        <p:nvSpPr>
          <p:cNvPr id="13" name="label:sync-range"/>
          <p:cNvSpPr/>
          <p:nvPr/>
        </p:nvSpPr>
        <p:spPr>
          <a:xfrm>
            <a:off x="7589520" y="1847088"/>
            <a:ext cx="749808" cy="530352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0-3</a:t>
            </a:r>
          </a:p>
        </p:txBody>
      </p:sp>
      <p:sp>
        <p:nvSpPr>
          <p:cNvPr id="14" name="label:sync-field"/>
          <p:cNvSpPr/>
          <p:nvPr/>
        </p:nvSpPr>
        <p:spPr>
          <a:xfrm>
            <a:off x="8339327" y="1847088"/>
            <a:ext cx="1005840" cy="530352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2563A6"/>
                </a:solidFill>
                <a:latin typeface="Microsoft YaHei"/>
              </a:rPr>
              <a:t>SYNC</a:t>
            </a:r>
          </a:p>
        </p:txBody>
      </p:sp>
      <p:sp>
        <p:nvSpPr>
          <p:cNvPr id="15" name="label:sync-value"/>
          <p:cNvSpPr/>
          <p:nvPr/>
        </p:nvSpPr>
        <p:spPr>
          <a:xfrm>
            <a:off x="9345168" y="1847088"/>
            <a:ext cx="2084831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17202A"/>
                </a:solidFill>
                <a:latin typeface="Microsoft YaHei"/>
              </a:rPr>
              <a:t>0x434E5953</a:t>
            </a:r>
          </a:p>
        </p:txBody>
      </p:sp>
      <p:sp>
        <p:nvSpPr>
          <p:cNvPr id="16" name="label:sync-range"/>
          <p:cNvSpPr/>
          <p:nvPr/>
        </p:nvSpPr>
        <p:spPr>
          <a:xfrm>
            <a:off x="7589520" y="2487168"/>
            <a:ext cx="749808" cy="530352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4-7</a:t>
            </a:r>
          </a:p>
        </p:txBody>
      </p:sp>
      <p:sp>
        <p:nvSpPr>
          <p:cNvPr id="17" name="label:sync-field"/>
          <p:cNvSpPr/>
          <p:nvPr/>
        </p:nvSpPr>
        <p:spPr>
          <a:xfrm>
            <a:off x="8339327" y="2487168"/>
            <a:ext cx="1005840" cy="530352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2563A6"/>
                </a:solidFill>
                <a:latin typeface="Microsoft YaHei"/>
              </a:rPr>
              <a:t>src</a:t>
            </a:r>
          </a:p>
        </p:txBody>
      </p:sp>
      <p:sp>
        <p:nvSpPr>
          <p:cNvPr id="18" name="label:sync-value"/>
          <p:cNvSpPr/>
          <p:nvPr/>
        </p:nvSpPr>
        <p:spPr>
          <a:xfrm>
            <a:off x="9345168" y="2487168"/>
            <a:ext cx="2084831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17202A"/>
                </a:solidFill>
                <a:latin typeface="Microsoft YaHei"/>
              </a:rPr>
              <a:t>0x1000 / HC</a:t>
            </a:r>
          </a:p>
        </p:txBody>
      </p:sp>
      <p:sp>
        <p:nvSpPr>
          <p:cNvPr id="19" name="label:sync-range"/>
          <p:cNvSpPr/>
          <p:nvPr/>
        </p:nvSpPr>
        <p:spPr>
          <a:xfrm>
            <a:off x="7589520" y="3127248"/>
            <a:ext cx="749808" cy="530352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8-11</a:t>
            </a:r>
          </a:p>
        </p:txBody>
      </p:sp>
      <p:sp>
        <p:nvSpPr>
          <p:cNvPr id="20" name="label:sync-field"/>
          <p:cNvSpPr/>
          <p:nvPr/>
        </p:nvSpPr>
        <p:spPr>
          <a:xfrm>
            <a:off x="8339327" y="3127248"/>
            <a:ext cx="1005840" cy="530352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2563A6"/>
                </a:solidFill>
                <a:latin typeface="Microsoft YaHei"/>
              </a:rPr>
              <a:t>dest</a:t>
            </a:r>
          </a:p>
        </p:txBody>
      </p:sp>
      <p:sp>
        <p:nvSpPr>
          <p:cNvPr id="21" name="label:sync-value"/>
          <p:cNvSpPr/>
          <p:nvPr/>
        </p:nvSpPr>
        <p:spPr>
          <a:xfrm>
            <a:off x="9345168" y="3127248"/>
            <a:ext cx="2084831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17202A"/>
                </a:solidFill>
                <a:latin typeface="Microsoft YaHei"/>
              </a:rPr>
              <a:t>0x0100... / FSM</a:t>
            </a:r>
          </a:p>
        </p:txBody>
      </p:sp>
      <p:sp>
        <p:nvSpPr>
          <p:cNvPr id="22" name="label:sync-range"/>
          <p:cNvSpPr/>
          <p:nvPr/>
        </p:nvSpPr>
        <p:spPr>
          <a:xfrm>
            <a:off x="7589520" y="3767328"/>
            <a:ext cx="749808" cy="530352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12-15</a:t>
            </a:r>
          </a:p>
        </p:txBody>
      </p:sp>
      <p:sp>
        <p:nvSpPr>
          <p:cNvPr id="23" name="label:sync-field"/>
          <p:cNvSpPr/>
          <p:nvPr/>
        </p:nvSpPr>
        <p:spPr>
          <a:xfrm>
            <a:off x="8339327" y="3767328"/>
            <a:ext cx="1005840" cy="530352"/>
          </a:xfrm>
          <a:prstGeom prst="rect">
            <a:avLst/>
          </a:prstGeom>
          <a:solidFill>
            <a:srgbClr val="EAF2FA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2563A6"/>
                </a:solidFill>
                <a:latin typeface="Microsoft YaHei"/>
              </a:rPr>
              <a:t>cmd</a:t>
            </a:r>
          </a:p>
        </p:txBody>
      </p:sp>
      <p:sp>
        <p:nvSpPr>
          <p:cNvPr id="24" name="label:sync-value"/>
          <p:cNvSpPr/>
          <p:nvPr/>
        </p:nvSpPr>
        <p:spPr>
          <a:xfrm>
            <a:off x="9345168" y="3767328"/>
            <a:ext cx="2084831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17202A"/>
                </a:solidFill>
                <a:latin typeface="Microsoft YaHei"/>
              </a:rPr>
              <a:t>0x0019 / DISPLAY_ON</a:t>
            </a:r>
          </a:p>
        </p:txBody>
      </p:sp>
      <p:sp>
        <p:nvSpPr>
          <p:cNvPr id="25" name="label:sync-target"/>
          <p:cNvSpPr/>
          <p:nvPr/>
        </p:nvSpPr>
        <p:spPr>
          <a:xfrm>
            <a:off x="7589520" y="4517136"/>
            <a:ext cx="3840480" cy="420624"/>
          </a:xfrm>
          <a:prstGeom prst="rect">
            <a:avLst/>
          </a:prstGeom>
          <a:solidFill>
            <a:srgbClr val="F9EFE5"/>
          </a:solidFill>
          <a:ln w="12700">
            <a:solidFill>
              <a:srgbClr val="B46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B46620"/>
                </a:solidFill>
                <a:latin typeface="Microsoft YaHei"/>
              </a:rPr>
              <a:t>目标端口 1279  |  payload = 0 字节</a:t>
            </a:r>
          </a:p>
        </p:txBody>
      </p:sp>
      <p:sp>
        <p:nvSpPr>
          <p:cNvPr id="26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30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fsmId + DISPLAY_ON</a:t>
            </a:r>
          </a:p>
        </p:txBody>
      </p:sp>
      <p:sp>
        <p:nvSpPr>
          <p:cNvPr id="31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32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LittleEndian 写入 16 字节 SYNC 头</a:t>
            </a:r>
          </a:p>
        </p:txBody>
      </p:sp>
      <p:sp>
        <p:nvSpPr>
          <p:cNvPr id="33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34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TCP 发往 FSM:1279</a:t>
            </a:r>
          </a:p>
        </p:txBody>
      </p:sp>
      <p:sp>
        <p:nvSpPr>
          <p:cNvPr id="35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讲解重点：JSON 到这里结束；从这一页开始，链路变成设备二进制协议。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D7D5A"/>
                </a:solidFill>
                <a:latin typeface="Microsoft YaHei"/>
              </a:rPr>
              <a:t>FSM 返回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08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FSM 从 1128 返回，Go 分三段读取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FSM 新建反向 TCP 连接；这不是 1279 连接上的同步返回值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E:/goTest/go/ohos/Tcp/internal/runtime/ctcp_server.go | handleConnection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0306     if err := recvCTCPSync(conn); err != nil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0311     head, err := recvCTCPCommand(conn)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0312     if err != nil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0313         setCTCPServerLastMessage("CTCP %s server read c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0314         return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0315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0316     if head.NDstId != cTCPHcID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0328     payload, totalAfterHead, readMode, err := recvCTCPP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0349     s.handleCommandPayload(remoteAddr, head, payload)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三段读取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4 字节 SYNC：必须是 ASCII 'SYNC'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12 字节头：src / dst / cmd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payload：read-until-idle（500ms 或 EOF）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dst 不是 HC_ID 直接丢弃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2D7D5A"/>
                </a:solidFill>
                <a:latin typeface="Microsoft YaHei"/>
              </a:rPr>
              <a:t>主案例监听 0.0.0.0:1128，连接方向 FSM -&gt; Go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FSM 新建 TCP 连接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SYNC -&gt; command head -&gt; payload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交给 handleCommandPayload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讲解重点：端口、连接方向和读取顺序是抓包或看日志时最重要的三个坐标。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D7D5A"/>
                </a:solidFill>
                <a:latin typeface="Microsoft YaHei"/>
              </a:rPr>
              <a:t>解析与缓存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09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配置即时转发，统计先缓存再定时广播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同一个 1128 入口，根据 cmd 走两条不同的处理分支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E:/goTest/go/ohos/Tcp/internal/runtime/ctcp_server.go | handleCommandPayload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0355     switch head.NCmdId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0356     case cmdFSMConfig: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0357         stg, err := ParseData[StGlobal](payload)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0369         stgJSON, jsonErr := FormatStGlobalFullJSON(stg)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0384             if err := PublishWebSocketJSON(webSocketTop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0391     case cmdFSMStatistics: //0x1001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0392         state, programName, err := parseStStatisticsPay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0397         state.NSubsysId = normalizeStStatisticsSubsysID 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0398         cacheHomeStatsProgramName(programName)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0399         cacheStStatisticsForSpeed(state, cTCPNow())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0400         return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B46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两类命令，两种时机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0x1000 -&gt; StGlobal -&gt; 立即 JSON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0x1001 -&gt; StStatistics -&gt; 最新快照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ParseData 按 Go 结构体大小读取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Go 布局必须与 FSM 二进制一致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F9EFE5"/>
          </a:solidFill>
          <a:ln w="12700">
            <a:solidFill>
              <a:srgbClr val="B46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B46620"/>
                </a:solidFill>
                <a:latin typeface="Microsoft YaHei"/>
              </a:rPr>
              <a:t>缓存是节流点，不是另一套业务数据源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cmd + 二进制 payload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解析结构体并按命令分支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stglobal 立即广播 / statistics 写缓存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讲解重点：不要把“FSM 已返回”和“前端已收到”画成同一个时刻，统计中间还有缓存与定时器。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D7D5A"/>
                </a:solidFill>
                <a:latin typeface="Microsoft YaHei"/>
              </a:rPr>
              <a:t>后端广播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10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Go 每秒取快照，再广播给所有连接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topic 是帧内的数据类别字段；hub 不按类别维护客户端名单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358444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E:/goTest/go/ohos/Tcp/internal/runtime/websocket.go | data frame + hub.run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31546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0642     return json.Marshal(webSocketFrame{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0643         Type:  "data",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0644         Topic: topic,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0645         Data:  cloneRawMessage(raw),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0646         At:    time.Now().UnixMilli(),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0647     })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0317         case payload := &lt;-h.broadcast: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0318             for client := range h.clients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0319                 select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0320                 case client.send &lt;- payload: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0321                 default: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0322                     delete(h.clients, client)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0323                     close(client.send)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0324                 }</a:t>
            </a:r>
          </a:p>
        </p:txBody>
      </p:sp>
      <p:sp>
        <p:nvSpPr>
          <p:cNvPr id="12" name="decor:technical-panel"/>
          <p:cNvSpPr/>
          <p:nvPr/>
        </p:nvSpPr>
        <p:spPr>
          <a:xfrm>
            <a:off x="7479792" y="1353312"/>
            <a:ext cx="4133087" cy="3675887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ecor:technical-accent"/>
          <p:cNvSpPr/>
          <p:nvPr/>
        </p:nvSpPr>
        <p:spPr>
          <a:xfrm>
            <a:off x="7479792" y="1353312"/>
            <a:ext cx="73152" cy="3584448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body:technical-heading"/>
          <p:cNvSpPr txBox="1"/>
          <p:nvPr/>
        </p:nvSpPr>
        <p:spPr>
          <a:xfrm>
            <a:off x="7754112" y="1572768"/>
            <a:ext cx="3584448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广播前后的规则</a:t>
            </a:r>
          </a:p>
        </p:txBody>
      </p:sp>
      <p:sp>
        <p:nvSpPr>
          <p:cNvPr id="15" name="label:technical-bullets"/>
          <p:cNvSpPr txBox="1"/>
          <p:nvPr/>
        </p:nvSpPr>
        <p:spPr>
          <a:xfrm>
            <a:off x="7735824" y="1975104"/>
            <a:ext cx="3584448" cy="2267712"/>
          </a:xfrm>
          <a:prstGeom prst="rect">
            <a:avLst/>
          </a:prstGeom>
          <a:noFill/>
        </p:spPr>
        <p:txBody>
          <a:bodyPr wrap="square" anchor="t" lIns="18288" rIns="18288" t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定时器每 1 秒；请求也可立即触发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超过 2.5 秒未更新，显示速度归零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封装 type/topic/data/at，topic 转小写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700" b="0">
                <a:solidFill>
                  <a:srgbClr val="17202A"/>
                </a:solidFill>
                <a:latin typeface="Microsoft YaHei"/>
              </a:rPr>
              <a:t>• hub 投递给每个已连接客户端</a:t>
            </a:r>
          </a:p>
        </p:txBody>
      </p:sp>
      <p:sp>
        <p:nvSpPr>
          <p:cNvPr id="16" name="label:technical-conclusion"/>
          <p:cNvSpPr/>
          <p:nvPr/>
        </p:nvSpPr>
        <p:spPr>
          <a:xfrm>
            <a:off x="7735824" y="4425696"/>
            <a:ext cx="3602736" cy="457200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400" b="1">
                <a:solidFill>
                  <a:srgbClr val="2D7D5A"/>
                </a:solidFill>
                <a:latin typeface="Microsoft YaHei"/>
              </a:rPr>
              <a:t>topic 负责标识数据，前端负责按字段分流</a:t>
            </a:r>
          </a:p>
        </p:txBody>
      </p:sp>
      <p:sp>
        <p:nvSpPr>
          <p:cNvPr id="1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2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最新 StStatistics 缓存</a:t>
            </a:r>
          </a:p>
        </p:txBody>
      </p:sp>
      <p:sp>
        <p:nvSpPr>
          <p:cNvPr id="2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2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1 秒快照 + JSON data 帧 + hub 广播</a:t>
            </a:r>
          </a:p>
        </p:txBody>
      </p:sp>
      <p:sp>
        <p:nvSpPr>
          <p:cNvPr id="2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2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statistics 与 homeStats 数据帧</a:t>
            </a:r>
          </a:p>
        </p:txBody>
      </p:sp>
      <p:sp>
        <p:nvSpPr>
          <p:cNvPr id="2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讲解重点：Publish 是函数名；从 hub 的 clients 循环可以直接看出实际行为是全连接广播。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2D7D5A"/>
                </a:solidFill>
                <a:latin typeface="Microsoft YaHei"/>
              </a:rPr>
              <a:t>前端映射与显示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11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前端按数据类别字段分流，状态变化驱动显示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映射 = JSON 字段转前端结构/状态；statistics 与 homeStats 走不同分支</a:t>
            </a:r>
          </a:p>
        </p:txBody>
      </p:sp>
      <p:sp>
        <p:nvSpPr>
          <p:cNvPr id="9" name="decor:code-bg"/>
          <p:cNvSpPr/>
          <p:nvPr/>
        </p:nvSpPr>
        <p:spPr>
          <a:xfrm>
            <a:off x="566928" y="1353312"/>
            <a:ext cx="6675120" cy="1664208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mall:code-path"/>
          <p:cNvSpPr txBox="1"/>
          <p:nvPr/>
        </p:nvSpPr>
        <p:spPr>
          <a:xfrm>
            <a:off x="713232" y="1444752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E:/new/my_harmony/entry/src/main/ets/utils/network/HarmonyWebSocketClient.ets</a:t>
            </a:r>
          </a:p>
        </p:txBody>
      </p:sp>
      <p:sp>
        <p:nvSpPr>
          <p:cNvPr id="11" name="code:excerpt"/>
          <p:cNvSpPr txBox="1"/>
          <p:nvPr/>
        </p:nvSpPr>
        <p:spPr>
          <a:xfrm>
            <a:off x="713232" y="1691640"/>
            <a:ext cx="6382512" cy="123444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1728     if (topic === 'statistics')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1729       this.handleStatisticsData(data as StStatisticsJson);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1730       return;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1731     }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1732     if (topic === 'homestats') {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1733       this.handleHomeStatsData(data as HomeStatsPayload);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1734       return;</a:t>
            </a:r>
          </a:p>
        </p:txBody>
      </p:sp>
      <p:sp>
        <p:nvSpPr>
          <p:cNvPr id="12" name="decor:code-bg"/>
          <p:cNvSpPr/>
          <p:nvPr/>
        </p:nvSpPr>
        <p:spPr>
          <a:xfrm>
            <a:off x="566928" y="3127248"/>
            <a:ext cx="6675120" cy="1810512"/>
          </a:xfrm>
          <a:prstGeom prst="rect">
            <a:avLst/>
          </a:prstGeom>
          <a:solidFill>
            <a:srgbClr val="1822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small:code-path"/>
          <p:cNvSpPr txBox="1"/>
          <p:nvPr/>
        </p:nvSpPr>
        <p:spPr>
          <a:xfrm>
            <a:off x="713232" y="3218688"/>
            <a:ext cx="638251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AFC0CD"/>
                </a:solidFill>
                <a:latin typeface="Microsoft YaHei"/>
              </a:rPr>
              <a:t>E:/new/my_harmony | HarmonyWebSocketClient.ets + pages/home/SortingInfoCard.ets</a:t>
            </a:r>
          </a:p>
        </p:txBody>
      </p:sp>
      <p:sp>
        <p:nvSpPr>
          <p:cNvPr id="14" name="code:excerpt"/>
          <p:cNvSpPr txBox="1"/>
          <p:nvPr/>
        </p:nvSpPr>
        <p:spPr>
          <a:xfrm>
            <a:off x="713232" y="3465576"/>
            <a:ext cx="6382512" cy="138074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2155     const statistics = mapStStatisticsJsonToStruct(data);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2182     dataInterface.updateStatistics(statistics);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2708     AppStorage.set(key, value);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...</a:t>
            </a:r>
          </a:p>
          <a:p>
            <a:pPr algn="l">
              <a:lnSpc>
                <a:spcPct val="90000"/>
              </a:lnSpc>
              <a:spcAft>
                <a:spcPts val="0"/>
              </a:spcAft>
            </a:pPr>
            <a:r>
              <a:rPr sz="1400">
                <a:solidFill>
                  <a:srgbClr val="FFFFFF"/>
                </a:solidFill>
                <a:latin typeface="Consolas"/>
              </a:rPr>
              <a:t>0020   @StorageLink('SORT_SPEED') sortSpeed: string = '0 个/分钟'</a:t>
            </a:r>
          </a:p>
        </p:txBody>
      </p:sp>
      <p:sp>
        <p:nvSpPr>
          <p:cNvPr id="15" name="body:frontend-branches"/>
          <p:cNvSpPr txBox="1"/>
          <p:nvPr/>
        </p:nvSpPr>
        <p:spPr>
          <a:xfrm>
            <a:off x="7571231" y="1444752"/>
            <a:ext cx="3822191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000" b="1">
                <a:solidFill>
                  <a:srgbClr val="17202A"/>
                </a:solidFill>
                <a:latin typeface="Microsoft YaHei"/>
              </a:rPr>
              <a:t>两个真实状态分支</a:t>
            </a:r>
          </a:p>
        </p:txBody>
      </p:sp>
      <p:sp>
        <p:nvSpPr>
          <p:cNvPr id="16" name="label:state-source"/>
          <p:cNvSpPr/>
          <p:nvPr/>
        </p:nvSpPr>
        <p:spPr>
          <a:xfrm>
            <a:off x="7571231" y="1920240"/>
            <a:ext cx="1024128" cy="585216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2D7D5A"/>
                </a:solidFill>
                <a:latin typeface="Microsoft YaHei"/>
              </a:rPr>
              <a:t>statistics</a:t>
            </a:r>
          </a:p>
        </p:txBody>
      </p:sp>
      <p:sp>
        <p:nvSpPr>
          <p:cNvPr id="17" name="label:arrow"/>
          <p:cNvSpPr/>
          <p:nvPr/>
        </p:nvSpPr>
        <p:spPr>
          <a:xfrm>
            <a:off x="8668512" y="2029968"/>
            <a:ext cx="384048" cy="365760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8" name="label:state-middle"/>
          <p:cNvSpPr/>
          <p:nvPr/>
        </p:nvSpPr>
        <p:spPr>
          <a:xfrm>
            <a:off x="9070848" y="1920240"/>
            <a:ext cx="1060704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Microsoft YaHei"/>
              </a:rPr>
              <a:t>Mapper</a:t>
            </a:r>
          </a:p>
        </p:txBody>
      </p:sp>
      <p:sp>
        <p:nvSpPr>
          <p:cNvPr id="19" name="label:arrow"/>
          <p:cNvSpPr/>
          <p:nvPr/>
        </p:nvSpPr>
        <p:spPr>
          <a:xfrm>
            <a:off x="10186416" y="2029968"/>
            <a:ext cx="384048" cy="365760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0" name="label:state-target"/>
          <p:cNvSpPr/>
          <p:nvPr/>
        </p:nvSpPr>
        <p:spPr>
          <a:xfrm>
            <a:off x="10570464" y="1920240"/>
            <a:ext cx="1005840" cy="585216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2D7D5A"/>
                </a:solidFill>
                <a:latin typeface="Microsoft YaHei"/>
              </a:rPr>
              <a:t>GlobalData</a:t>
            </a:r>
          </a:p>
        </p:txBody>
      </p:sp>
      <p:sp>
        <p:nvSpPr>
          <p:cNvPr id="21" name="label:state-source"/>
          <p:cNvSpPr/>
          <p:nvPr/>
        </p:nvSpPr>
        <p:spPr>
          <a:xfrm>
            <a:off x="7571231" y="3054096"/>
            <a:ext cx="1024128" cy="585216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2D7D5A"/>
                </a:solidFill>
                <a:latin typeface="Microsoft YaHei"/>
              </a:rPr>
              <a:t>homeStats</a:t>
            </a:r>
          </a:p>
        </p:txBody>
      </p:sp>
      <p:sp>
        <p:nvSpPr>
          <p:cNvPr id="22" name="label:arrow"/>
          <p:cNvSpPr/>
          <p:nvPr/>
        </p:nvSpPr>
        <p:spPr>
          <a:xfrm>
            <a:off x="8668512" y="3163824"/>
            <a:ext cx="384048" cy="365760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3" name="label:state-middle"/>
          <p:cNvSpPr/>
          <p:nvPr/>
        </p:nvSpPr>
        <p:spPr>
          <a:xfrm>
            <a:off x="9070848" y="3054096"/>
            <a:ext cx="1060704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17202A"/>
                </a:solidFill>
                <a:latin typeface="Microsoft YaHei"/>
              </a:rPr>
              <a:t>AppStorage</a:t>
            </a:r>
          </a:p>
        </p:txBody>
      </p:sp>
      <p:sp>
        <p:nvSpPr>
          <p:cNvPr id="24" name="label:arrow"/>
          <p:cNvSpPr/>
          <p:nvPr/>
        </p:nvSpPr>
        <p:spPr>
          <a:xfrm>
            <a:off x="10186416" y="3163824"/>
            <a:ext cx="384048" cy="365760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5" name="label:state-target"/>
          <p:cNvSpPr/>
          <p:nvPr/>
        </p:nvSpPr>
        <p:spPr>
          <a:xfrm>
            <a:off x="10570464" y="3054096"/>
            <a:ext cx="1005840" cy="585216"/>
          </a:xfrm>
          <a:prstGeom prst="rect">
            <a:avLst/>
          </a:prstGeom>
          <a:solidFill>
            <a:srgbClr val="EAF5EF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2D7D5A"/>
                </a:solidFill>
                <a:latin typeface="Microsoft YaHei"/>
              </a:rPr>
              <a:t>页面绑定</a:t>
            </a:r>
          </a:p>
        </p:txBody>
      </p:sp>
      <p:sp>
        <p:nvSpPr>
          <p:cNvPr id="26" name="label:stglobal-branch"/>
          <p:cNvSpPr/>
          <p:nvPr/>
        </p:nvSpPr>
        <p:spPr>
          <a:xfrm>
            <a:off x="7571231" y="4224528"/>
            <a:ext cx="4005072" cy="512064"/>
          </a:xfrm>
          <a:prstGeom prst="rect">
            <a:avLst/>
          </a:prstGeom>
          <a:solidFill>
            <a:srgbClr val="F9EFE5"/>
          </a:solidFill>
          <a:ln w="12700">
            <a:solidFill>
              <a:srgbClr val="B46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300" b="1">
                <a:solidFill>
                  <a:srgbClr val="B46620"/>
                </a:solidFill>
                <a:latin typeface="Microsoft YaHei"/>
              </a:rPr>
              <a:t>stglobal 走第三条分支：映射后更新设备配置</a:t>
            </a:r>
          </a:p>
        </p:txBody>
      </p:sp>
      <p:sp>
        <p:nvSpPr>
          <p:cNvPr id="27" name="decor:io-band"/>
          <p:cNvSpPr/>
          <p:nvPr/>
        </p:nvSpPr>
        <p:spPr>
          <a:xfrm>
            <a:off x="566928" y="5175504"/>
            <a:ext cx="11055096" cy="566928"/>
          </a:xfrm>
          <a:prstGeom prst="rect">
            <a:avLst/>
          </a:prstGeom>
          <a:solidFill>
            <a:srgbClr val="EEF1F4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ecor:io-separator"/>
          <p:cNvSpPr/>
          <p:nvPr/>
        </p:nvSpPr>
        <p:spPr>
          <a:xfrm>
            <a:off x="4251960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ecor:io-separator"/>
          <p:cNvSpPr/>
          <p:nvPr/>
        </p:nvSpPr>
        <p:spPr>
          <a:xfrm>
            <a:off x="7936992" y="5257800"/>
            <a:ext cx="10972" cy="402336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small:io-label"/>
          <p:cNvSpPr txBox="1"/>
          <p:nvPr/>
        </p:nvSpPr>
        <p:spPr>
          <a:xfrm>
            <a:off x="704088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输入</a:t>
            </a:r>
          </a:p>
        </p:txBody>
      </p:sp>
      <p:sp>
        <p:nvSpPr>
          <p:cNvPr id="31" name="label:io-value"/>
          <p:cNvSpPr txBox="1"/>
          <p:nvPr/>
        </p:nvSpPr>
        <p:spPr>
          <a:xfrm>
            <a:off x="1271016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type=data + topic + data</a:t>
            </a:r>
          </a:p>
        </p:txBody>
      </p:sp>
      <p:sp>
        <p:nvSpPr>
          <p:cNvPr id="32" name="small:io-label"/>
          <p:cNvSpPr txBox="1"/>
          <p:nvPr/>
        </p:nvSpPr>
        <p:spPr>
          <a:xfrm>
            <a:off x="4389120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处理</a:t>
            </a:r>
          </a:p>
        </p:txBody>
      </p:sp>
      <p:sp>
        <p:nvSpPr>
          <p:cNvPr id="33" name="label:io-value"/>
          <p:cNvSpPr txBox="1"/>
          <p:nvPr/>
        </p:nvSpPr>
        <p:spPr>
          <a:xfrm>
            <a:off x="4956048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字段分流、结构映射、写状态</a:t>
            </a:r>
          </a:p>
        </p:txBody>
      </p:sp>
      <p:sp>
        <p:nvSpPr>
          <p:cNvPr id="34" name="small:io-label"/>
          <p:cNvSpPr txBox="1"/>
          <p:nvPr/>
        </p:nvSpPr>
        <p:spPr>
          <a:xfrm>
            <a:off x="8074152" y="5266944"/>
            <a:ext cx="530352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5F6B76"/>
                </a:solidFill>
                <a:latin typeface="Microsoft YaHei"/>
              </a:rPr>
              <a:t>输出</a:t>
            </a:r>
          </a:p>
        </p:txBody>
      </p:sp>
      <p:sp>
        <p:nvSpPr>
          <p:cNvPr id="35" name="label:io-value"/>
          <p:cNvSpPr txBox="1"/>
          <p:nvPr/>
        </p:nvSpPr>
        <p:spPr>
          <a:xfrm>
            <a:off x="8641080" y="5248656"/>
            <a:ext cx="2935224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1">
                <a:solidFill>
                  <a:srgbClr val="17202A"/>
                </a:solidFill>
                <a:latin typeface="Microsoft YaHei"/>
              </a:rPr>
              <a:t>GlobalDataInterface / AppStorage -&gt; UI</a:t>
            </a:r>
          </a:p>
        </p:txBody>
      </p:sp>
      <p:sp>
        <p:nvSpPr>
          <p:cNvPr id="36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讲解重点：前端没有按类别维护连接；它只是收到广播后读取 topic 字段，再进入对应处理函数。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decor:accent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B466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small:stage"/>
          <p:cNvSpPr txBox="1"/>
          <p:nvPr/>
        </p:nvSpPr>
        <p:spPr>
          <a:xfrm>
            <a:off x="566928" y="182880"/>
            <a:ext cx="36576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B46620"/>
                </a:solidFill>
                <a:latin typeface="Microsoft YaHei"/>
              </a:rPr>
              <a:t>排查与复盘</a:t>
            </a:r>
          </a:p>
        </p:txBody>
      </p:sp>
      <p:sp>
        <p:nvSpPr>
          <p:cNvPr id="4" name="decor:footer-line"/>
          <p:cNvSpPr/>
          <p:nvPr/>
        </p:nvSpPr>
        <p:spPr>
          <a:xfrm>
            <a:off x="566928" y="6437376"/>
            <a:ext cx="11055096" cy="10972"/>
          </a:xfrm>
          <a:prstGeom prst="rect">
            <a:avLst/>
          </a:prstGeom>
          <a:solidFill>
            <a:srgbClr val="D9DE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ooter:name"/>
          <p:cNvSpPr txBox="1"/>
          <p:nvPr/>
        </p:nvSpPr>
        <p:spPr>
          <a:xfrm>
            <a:off x="566928" y="6528816"/>
            <a:ext cx="47548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DISPLAY_ON 数据上行链路</a:t>
            </a:r>
          </a:p>
        </p:txBody>
      </p:sp>
      <p:sp>
        <p:nvSpPr>
          <p:cNvPr id="6" name="footer:number"/>
          <p:cNvSpPr txBox="1"/>
          <p:nvPr/>
        </p:nvSpPr>
        <p:spPr>
          <a:xfrm>
            <a:off x="10497312" y="6528816"/>
            <a:ext cx="111556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900" b="0">
                <a:solidFill>
                  <a:srgbClr val="5F6B76"/>
                </a:solidFill>
                <a:latin typeface="Microsoft YaHei"/>
              </a:rPr>
              <a:t>12 / 12</a:t>
            </a:r>
          </a:p>
        </p:txBody>
      </p:sp>
      <p:sp>
        <p:nvSpPr>
          <p:cNvPr id="7" name="title:main"/>
          <p:cNvSpPr txBox="1"/>
          <p:nvPr/>
        </p:nvSpPr>
        <p:spPr>
          <a:xfrm>
            <a:off x="566928" y="475488"/>
            <a:ext cx="11055096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000" b="1">
                <a:solidFill>
                  <a:srgbClr val="17202A"/>
                </a:solidFill>
                <a:latin typeface="Microsoft YaHei"/>
              </a:rPr>
              <a:t>八个节点定位：数据停在哪里</a:t>
            </a:r>
          </a:p>
        </p:txBody>
      </p:sp>
      <p:sp>
        <p:nvSpPr>
          <p:cNvPr id="8" name="label:subtitle"/>
          <p:cNvSpPr txBox="1"/>
          <p:nvPr/>
        </p:nvSpPr>
        <p:spPr>
          <a:xfrm>
            <a:off x="566928" y="932688"/>
            <a:ext cx="11055096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500" b="0">
                <a:solidFill>
                  <a:srgbClr val="5F6B76"/>
                </a:solidFill>
                <a:latin typeface="Microsoft YaHei"/>
              </a:rPr>
              <a:t>按链路顺序排查，不要一上来只盯页面或只盯 FSM</a:t>
            </a:r>
          </a:p>
        </p:txBody>
      </p:sp>
      <p:sp>
        <p:nvSpPr>
          <p:cNvPr id="9" name="decor:step"/>
          <p:cNvSpPr/>
          <p:nvPr/>
        </p:nvSpPr>
        <p:spPr>
          <a:xfrm>
            <a:off x="621792" y="1481328"/>
            <a:ext cx="2523744" cy="1188720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label:step-number"/>
          <p:cNvSpPr/>
          <p:nvPr/>
        </p:nvSpPr>
        <p:spPr>
          <a:xfrm>
            <a:off x="731520" y="1609344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1</a:t>
            </a:r>
          </a:p>
        </p:txBody>
      </p:sp>
      <p:sp>
        <p:nvSpPr>
          <p:cNvPr id="11" name="label:step-title"/>
          <p:cNvSpPr txBox="1"/>
          <p:nvPr/>
        </p:nvSpPr>
        <p:spPr>
          <a:xfrm>
            <a:off x="1225296" y="1591056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WebSocket open</a:t>
            </a:r>
          </a:p>
        </p:txBody>
      </p:sp>
      <p:sp>
        <p:nvSpPr>
          <p:cNvPr id="12" name="label:step-detail"/>
          <p:cNvSpPr txBox="1"/>
          <p:nvPr/>
        </p:nvSpPr>
        <p:spPr>
          <a:xfrm>
            <a:off x="768096" y="2002536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前端 state=open</a:t>
            </a:r>
          </a:p>
        </p:txBody>
      </p:sp>
      <p:sp>
        <p:nvSpPr>
          <p:cNvPr id="13" name="label:diagnostic-arrow"/>
          <p:cNvSpPr/>
          <p:nvPr/>
        </p:nvSpPr>
        <p:spPr>
          <a:xfrm>
            <a:off x="3182112" y="1901952"/>
            <a:ext cx="237744" cy="310896"/>
          </a:xfrm>
          <a:prstGeom prst="rightArrow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4" name="decor:step"/>
          <p:cNvSpPr/>
          <p:nvPr/>
        </p:nvSpPr>
        <p:spPr>
          <a:xfrm>
            <a:off x="3474720" y="1481328"/>
            <a:ext cx="2523744" cy="1188720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label:step-number"/>
          <p:cNvSpPr/>
          <p:nvPr/>
        </p:nvSpPr>
        <p:spPr>
          <a:xfrm>
            <a:off x="3584448" y="1609344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</a:t>
            </a:r>
          </a:p>
        </p:txBody>
      </p:sp>
      <p:sp>
        <p:nvSpPr>
          <p:cNvPr id="16" name="label:step-title"/>
          <p:cNvSpPr txBox="1"/>
          <p:nvPr/>
        </p:nvSpPr>
        <p:spPr>
          <a:xfrm>
            <a:off x="4078224" y="1591056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JSON 请求</a:t>
            </a:r>
          </a:p>
        </p:txBody>
      </p:sp>
      <p:sp>
        <p:nvSpPr>
          <p:cNvPr id="17" name="label:step-detail"/>
          <p:cNvSpPr txBox="1"/>
          <p:nvPr/>
        </p:nvSpPr>
        <p:spPr>
          <a:xfrm>
            <a:off x="3621024" y="2002536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sendText=true</a:t>
            </a:r>
          </a:p>
        </p:txBody>
      </p:sp>
      <p:sp>
        <p:nvSpPr>
          <p:cNvPr id="18" name="label:diagnostic-arrow"/>
          <p:cNvSpPr/>
          <p:nvPr/>
        </p:nvSpPr>
        <p:spPr>
          <a:xfrm>
            <a:off x="6035040" y="1901952"/>
            <a:ext cx="237744" cy="310896"/>
          </a:xfrm>
          <a:prstGeom prst="rightArrow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19" name="decor:step"/>
          <p:cNvSpPr/>
          <p:nvPr/>
        </p:nvSpPr>
        <p:spPr>
          <a:xfrm>
            <a:off x="6327648" y="1481328"/>
            <a:ext cx="2523744" cy="1188720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label:step-number"/>
          <p:cNvSpPr/>
          <p:nvPr/>
        </p:nvSpPr>
        <p:spPr>
          <a:xfrm>
            <a:off x="6437376" y="1609344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3</a:t>
            </a:r>
          </a:p>
        </p:txBody>
      </p:sp>
      <p:sp>
        <p:nvSpPr>
          <p:cNvPr id="21" name="label:step-title"/>
          <p:cNvSpPr txBox="1"/>
          <p:nvPr/>
        </p:nvSpPr>
        <p:spPr>
          <a:xfrm>
            <a:off x="6931152" y="1591056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Go 路由</a:t>
            </a:r>
          </a:p>
        </p:txBody>
      </p:sp>
      <p:sp>
        <p:nvSpPr>
          <p:cNvPr id="22" name="label:step-detail"/>
          <p:cNvSpPr txBox="1"/>
          <p:nvPr/>
        </p:nvSpPr>
        <p:spPr>
          <a:xfrm>
            <a:off x="6473952" y="2002536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handleIncoming</a:t>
            </a:r>
          </a:p>
        </p:txBody>
      </p:sp>
      <p:sp>
        <p:nvSpPr>
          <p:cNvPr id="23" name="label:diagnostic-arrow"/>
          <p:cNvSpPr/>
          <p:nvPr/>
        </p:nvSpPr>
        <p:spPr>
          <a:xfrm>
            <a:off x="8887967" y="1901952"/>
            <a:ext cx="237744" cy="310896"/>
          </a:xfrm>
          <a:prstGeom prst="rightArrow">
            <a:avLst/>
          </a:prstGeom>
          <a:solidFill>
            <a:srgbClr val="2563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24" name="decor:step"/>
          <p:cNvSpPr/>
          <p:nvPr/>
        </p:nvSpPr>
        <p:spPr>
          <a:xfrm>
            <a:off x="9180576" y="1481328"/>
            <a:ext cx="2523744" cy="1188720"/>
          </a:xfrm>
          <a:prstGeom prst="rect">
            <a:avLst/>
          </a:prstGeom>
          <a:solidFill>
            <a:srgbClr val="EAF2FA"/>
          </a:solidFill>
          <a:ln w="1524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label:step-number"/>
          <p:cNvSpPr/>
          <p:nvPr/>
        </p:nvSpPr>
        <p:spPr>
          <a:xfrm>
            <a:off x="9290303" y="1609344"/>
            <a:ext cx="384048" cy="329184"/>
          </a:xfrm>
          <a:prstGeom prst="rect">
            <a:avLst/>
          </a:prstGeom>
          <a:solidFill>
            <a:srgbClr val="2563A6"/>
          </a:solidFill>
          <a:ln w="12700">
            <a:solidFill>
              <a:srgbClr val="2563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4</a:t>
            </a:r>
          </a:p>
        </p:txBody>
      </p:sp>
      <p:sp>
        <p:nvSpPr>
          <p:cNvPr id="26" name="label:step-title"/>
          <p:cNvSpPr txBox="1"/>
          <p:nvPr/>
        </p:nvSpPr>
        <p:spPr>
          <a:xfrm>
            <a:off x="9784080" y="1591056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指令发出</a:t>
            </a:r>
          </a:p>
        </p:txBody>
      </p:sp>
      <p:sp>
        <p:nvSpPr>
          <p:cNvPr id="27" name="label:step-detail"/>
          <p:cNvSpPr txBox="1"/>
          <p:nvPr/>
        </p:nvSpPr>
        <p:spPr>
          <a:xfrm>
            <a:off x="9326880" y="2002536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DISPLAY_ON -&gt; 1279</a:t>
            </a:r>
          </a:p>
        </p:txBody>
      </p:sp>
      <p:sp>
        <p:nvSpPr>
          <p:cNvPr id="28" name="decor:step"/>
          <p:cNvSpPr/>
          <p:nvPr/>
        </p:nvSpPr>
        <p:spPr>
          <a:xfrm>
            <a:off x="621792" y="3072384"/>
            <a:ext cx="2523744" cy="1188720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label:step-number"/>
          <p:cNvSpPr/>
          <p:nvPr/>
        </p:nvSpPr>
        <p:spPr>
          <a:xfrm>
            <a:off x="731520" y="3200400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5</a:t>
            </a:r>
          </a:p>
        </p:txBody>
      </p:sp>
      <p:sp>
        <p:nvSpPr>
          <p:cNvPr id="30" name="label:step-title"/>
          <p:cNvSpPr txBox="1"/>
          <p:nvPr/>
        </p:nvSpPr>
        <p:spPr>
          <a:xfrm>
            <a:off x="1225296" y="3182112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FSM 回连</a:t>
            </a:r>
          </a:p>
        </p:txBody>
      </p:sp>
      <p:sp>
        <p:nvSpPr>
          <p:cNvPr id="31" name="label:step-detail"/>
          <p:cNvSpPr txBox="1"/>
          <p:nvPr/>
        </p:nvSpPr>
        <p:spPr>
          <a:xfrm>
            <a:off x="768096" y="3593592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FSM -&gt; 1128</a:t>
            </a:r>
          </a:p>
        </p:txBody>
      </p:sp>
      <p:sp>
        <p:nvSpPr>
          <p:cNvPr id="32" name="label:diagnostic-arrow"/>
          <p:cNvSpPr/>
          <p:nvPr/>
        </p:nvSpPr>
        <p:spPr>
          <a:xfrm>
            <a:off x="3182112" y="3493008"/>
            <a:ext cx="237744" cy="310896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33" name="decor:step"/>
          <p:cNvSpPr/>
          <p:nvPr/>
        </p:nvSpPr>
        <p:spPr>
          <a:xfrm>
            <a:off x="3474720" y="3072384"/>
            <a:ext cx="2523744" cy="1188720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abel:step-number"/>
          <p:cNvSpPr/>
          <p:nvPr/>
        </p:nvSpPr>
        <p:spPr>
          <a:xfrm>
            <a:off x="3584448" y="3200400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6</a:t>
            </a:r>
          </a:p>
        </p:txBody>
      </p:sp>
      <p:sp>
        <p:nvSpPr>
          <p:cNvPr id="35" name="label:step-title"/>
          <p:cNvSpPr txBox="1"/>
          <p:nvPr/>
        </p:nvSpPr>
        <p:spPr>
          <a:xfrm>
            <a:off x="4078224" y="3182112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解析缓存</a:t>
            </a:r>
          </a:p>
        </p:txBody>
      </p:sp>
      <p:sp>
        <p:nvSpPr>
          <p:cNvPr id="36" name="label:step-detail"/>
          <p:cNvSpPr txBox="1"/>
          <p:nvPr/>
        </p:nvSpPr>
        <p:spPr>
          <a:xfrm>
            <a:off x="3621024" y="3593592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0x1000 / 0x1001</a:t>
            </a:r>
          </a:p>
        </p:txBody>
      </p:sp>
      <p:sp>
        <p:nvSpPr>
          <p:cNvPr id="37" name="label:diagnostic-arrow"/>
          <p:cNvSpPr/>
          <p:nvPr/>
        </p:nvSpPr>
        <p:spPr>
          <a:xfrm>
            <a:off x="6035040" y="3493008"/>
            <a:ext cx="237744" cy="310896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38" name="decor:step"/>
          <p:cNvSpPr/>
          <p:nvPr/>
        </p:nvSpPr>
        <p:spPr>
          <a:xfrm>
            <a:off x="6327648" y="3072384"/>
            <a:ext cx="2523744" cy="1188720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label:step-number"/>
          <p:cNvSpPr/>
          <p:nvPr/>
        </p:nvSpPr>
        <p:spPr>
          <a:xfrm>
            <a:off x="6437376" y="3200400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7</a:t>
            </a:r>
          </a:p>
        </p:txBody>
      </p:sp>
      <p:sp>
        <p:nvSpPr>
          <p:cNvPr id="40" name="label:step-title"/>
          <p:cNvSpPr txBox="1"/>
          <p:nvPr/>
        </p:nvSpPr>
        <p:spPr>
          <a:xfrm>
            <a:off x="6931152" y="3182112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WebSocket 广播</a:t>
            </a:r>
          </a:p>
        </p:txBody>
      </p:sp>
      <p:sp>
        <p:nvSpPr>
          <p:cNvPr id="41" name="label:step-detail"/>
          <p:cNvSpPr txBox="1"/>
          <p:nvPr/>
        </p:nvSpPr>
        <p:spPr>
          <a:xfrm>
            <a:off x="6473952" y="3593592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type/topic/data</a:t>
            </a:r>
          </a:p>
        </p:txBody>
      </p:sp>
      <p:sp>
        <p:nvSpPr>
          <p:cNvPr id="42" name="label:diagnostic-arrow"/>
          <p:cNvSpPr/>
          <p:nvPr/>
        </p:nvSpPr>
        <p:spPr>
          <a:xfrm>
            <a:off x="8887967" y="3493008"/>
            <a:ext cx="237744" cy="310896"/>
          </a:xfrm>
          <a:prstGeom prst="rightArrow">
            <a:avLst/>
          </a:prstGeom>
          <a:solidFill>
            <a:srgbClr val="2D7D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icrosoft YaHei"/>
              </a:rPr>
              <a:t/>
            </a:r>
          </a:p>
        </p:txBody>
      </p:sp>
      <p:sp>
        <p:nvSpPr>
          <p:cNvPr id="43" name="decor:step"/>
          <p:cNvSpPr/>
          <p:nvPr/>
        </p:nvSpPr>
        <p:spPr>
          <a:xfrm>
            <a:off x="9180576" y="3072384"/>
            <a:ext cx="2523744" cy="1188720"/>
          </a:xfrm>
          <a:prstGeom prst="rect">
            <a:avLst/>
          </a:prstGeom>
          <a:solidFill>
            <a:srgbClr val="EAF5EF"/>
          </a:solidFill>
          <a:ln w="1524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label:step-number"/>
          <p:cNvSpPr/>
          <p:nvPr/>
        </p:nvSpPr>
        <p:spPr>
          <a:xfrm>
            <a:off x="9290303" y="3200400"/>
            <a:ext cx="384048" cy="329184"/>
          </a:xfrm>
          <a:prstGeom prst="rect">
            <a:avLst/>
          </a:prstGeom>
          <a:solidFill>
            <a:srgbClr val="2D7D5A"/>
          </a:solidFill>
          <a:ln w="12700">
            <a:solidFill>
              <a:srgbClr val="2D7D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8</a:t>
            </a:r>
          </a:p>
        </p:txBody>
      </p:sp>
      <p:sp>
        <p:nvSpPr>
          <p:cNvPr id="45" name="label:step-title"/>
          <p:cNvSpPr txBox="1"/>
          <p:nvPr/>
        </p:nvSpPr>
        <p:spPr>
          <a:xfrm>
            <a:off x="9784080" y="3182112"/>
            <a:ext cx="1810511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600" b="1">
                <a:solidFill>
                  <a:srgbClr val="17202A"/>
                </a:solidFill>
                <a:latin typeface="Microsoft YaHei"/>
              </a:rPr>
              <a:t>映射显示</a:t>
            </a:r>
          </a:p>
        </p:txBody>
      </p:sp>
      <p:sp>
        <p:nvSpPr>
          <p:cNvPr id="46" name="label:step-detail"/>
          <p:cNvSpPr txBox="1"/>
          <p:nvPr/>
        </p:nvSpPr>
        <p:spPr>
          <a:xfrm>
            <a:off x="9326880" y="3593592"/>
            <a:ext cx="2231136" cy="576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400" b="0">
                <a:solidFill>
                  <a:srgbClr val="5F6B76"/>
                </a:solidFill>
                <a:latin typeface="Microsoft YaHei"/>
              </a:rPr>
              <a:t>状态 -&gt; UI</a:t>
            </a:r>
          </a:p>
        </p:txBody>
      </p:sp>
      <p:sp>
        <p:nvSpPr>
          <p:cNvPr id="47" name="body:recap"/>
          <p:cNvSpPr/>
          <p:nvPr/>
        </p:nvSpPr>
        <p:spPr>
          <a:xfrm>
            <a:off x="1078992" y="4718304"/>
            <a:ext cx="1005840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9DE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900" b="1">
                <a:solidFill>
                  <a:srgbClr val="17202A"/>
                </a:solidFill>
                <a:latin typeface="Microsoft YaHei"/>
              </a:rPr>
              <a:t>复盘：连接 -&gt; 请求 -&gt; 路由 -&gt; 指令 -&gt; 返回 -&gt; 解析 -&gt; 广播 -&gt; 显示</a:t>
            </a:r>
          </a:p>
        </p:txBody>
      </p:sp>
      <p:sp>
        <p:nvSpPr>
          <p:cNvPr id="48" name="label:diagnostic-rule"/>
          <p:cNvSpPr/>
          <p:nvPr/>
        </p:nvSpPr>
        <p:spPr>
          <a:xfrm>
            <a:off x="2011680" y="5504688"/>
            <a:ext cx="8193024" cy="438912"/>
          </a:xfrm>
          <a:prstGeom prst="rect">
            <a:avLst/>
          </a:prstGeom>
          <a:solidFill>
            <a:srgbClr val="F9EFE5"/>
          </a:solidFill>
          <a:ln w="12700">
            <a:solidFill>
              <a:srgbClr val="B4662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lnSpc>
                <a:spcPct val="95000"/>
              </a:lnSpc>
              <a:spcAft>
                <a:spcPts val="0"/>
              </a:spcAft>
            </a:pPr>
            <a:r>
              <a:rPr sz="1600" b="1">
                <a:solidFill>
                  <a:srgbClr val="B46620"/>
                </a:solidFill>
                <a:latin typeface="Microsoft YaHei"/>
              </a:rPr>
              <a:t>先确认上一节点的输出，再检查下一节点的输入</a:t>
            </a:r>
          </a:p>
        </p:txBody>
      </p:sp>
      <p:sp>
        <p:nvSpPr>
          <p:cNvPr id="49" name="small:speaker-cue"/>
          <p:cNvSpPr txBox="1"/>
          <p:nvPr/>
        </p:nvSpPr>
        <p:spPr>
          <a:xfrm>
            <a:off x="566928" y="6144768"/>
            <a:ext cx="1105509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0">
                <a:solidFill>
                  <a:srgbClr val="5F6B76"/>
                </a:solidFill>
                <a:latin typeface="Microsoft YaHei"/>
              </a:rPr>
              <a:t>讲解重点：主线先查 1128；1127 是图像口，属于另一条数据入口。缓存和 AppStorage 都不是新增数据源。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